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474720"/>
          </a:xfrm>
          <a:prstGeom prst="rect">
            <a:avLst/>
          </a:prstGeom>
          <a:noFill/>
        </p:spPr>
        <p:txBody>
          <a:bodyPr wrap="square">
            <a:spAutoFit/>
          </a:bodyPr>
          <a:lstStyle/>
          <a:p>
            <a:pPr>
              <a:defRPr sz="1300" b="1">
                <a:solidFill>
                  <a:srgbClr val="10B981"/>
                </a:solidFill>
              </a:defRPr>
            </a:pPr>
            <a:r>
              <a:t>IBM Z DATATHON 2026 // HACK2SKILL</a:t>
            </a:r>
          </a:p>
          <a:p>
            <a:pPr>
              <a:spcAft>
                <a:spcPts val="1000"/>
              </a:spcAft>
              <a:defRPr sz="4400" b="1">
                <a:solidFill>
                  <a:srgbClr val="F1F5F9"/>
                </a:solidFill>
              </a:defRPr>
            </a:pPr>
            <a:r>
              <a:t>PROJECT SYN : AEGISCORE</a:t>
            </a:r>
          </a:p>
          <a:p>
            <a:pPr>
              <a:spcAft>
                <a:spcPts val="1500"/>
              </a:spcAft>
              <a:defRPr sz="2200">
                <a:solidFill>
                  <a:srgbClr val="F59E0B"/>
                </a:solidFill>
              </a:defRPr>
            </a:pPr>
            <a:r>
              <a:t>Air-Gapped Urban Resilience &amp; Disaster Triage Engine</a:t>
            </a:r>
          </a:p>
          <a:p>
            <a:pPr>
              <a:defRPr sz="1400">
                <a:solidFill>
                  <a:srgbClr val="8493A8"/>
                </a:solidFill>
              </a:defRPr>
            </a:pPr>
            <a:r>
              <a:t>Dual-Mainframe Distributed Mesh Powered by IBM LinuxONE s390x, CPACF Hardware Cryptography &amp; Snap ML</a:t>
            </a:r>
          </a:p>
        </p:txBody>
      </p:sp>
      <p:sp>
        <p:nvSpPr>
          <p:cNvPr id="4" name="TextBox 3"/>
          <p:cNvSpPr txBox="1"/>
          <p:nvPr/>
        </p:nvSpPr>
        <p:spPr>
          <a:xfrm>
            <a:off x="914400" y="5303520"/>
            <a:ext cx="10332720" cy="914400"/>
          </a:xfrm>
          <a:prstGeom prst="rect">
            <a:avLst/>
          </a:prstGeom>
          <a:noFill/>
        </p:spPr>
        <p:txBody>
          <a:bodyPr wrap="none">
            <a:spAutoFit/>
          </a:bodyPr>
          <a:lstStyle/>
          <a:p>
            <a:pPr>
              <a:defRPr sz="1100">
                <a:solidFill>
                  <a:srgbClr val="06B6D4"/>
                </a:solidFill>
              </a:defRPr>
            </a:pPr>
            <a:r>
              <a:t>Team: SynResilience | Core: Anshika Tripathi (ML &amp; Logic) &amp; Yuvraj Lokhande (Mainframe &amp; Architecture)</a:t>
            </a:r>
            <a:br/>
            <a:r>
              <a:t>Live Cloud Nodes: 148.100.79.88 (KEM Hospital Node 1) · 148.100.98.9 (Sion Hospital Node 2) · JupyterLab: Port 38888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822960"/>
          </a:xfrm>
          <a:prstGeom prst="rect">
            <a:avLst/>
          </a:prstGeom>
          <a:noFill/>
        </p:spPr>
        <p:txBody>
          <a:bodyPr wrap="square">
            <a:spAutoFit/>
          </a:bodyPr>
          <a:lstStyle/>
          <a:p>
            <a:pPr>
              <a:defRPr sz="2600" b="1">
                <a:solidFill>
                  <a:srgbClr val="F1F5F9"/>
                </a:solidFill>
                <a:latin typeface="Arial"/>
              </a:defRPr>
            </a:pPr>
            <a:r>
              <a:t>The Critical Urban Crisis: Mumbai Monsoon Deluge</a:t>
            </a:r>
          </a:p>
        </p:txBody>
      </p:sp>
      <p:sp>
        <p:nvSpPr>
          <p:cNvPr id="4" name="TextBox 3"/>
          <p:cNvSpPr txBox="1"/>
          <p:nvPr/>
        </p:nvSpPr>
        <p:spPr>
          <a:xfrm>
            <a:off x="731520" y="182880"/>
            <a:ext cx="7315200" cy="320040"/>
          </a:xfrm>
          <a:prstGeom prst="rect">
            <a:avLst/>
          </a:prstGeom>
          <a:noFill/>
        </p:spPr>
        <p:txBody>
          <a:bodyPr wrap="none">
            <a:spAutoFit/>
          </a:bodyPr>
          <a:lstStyle/>
          <a:p>
            <a:pPr>
              <a:defRPr sz="1100" b="1">
                <a:solidFill>
                  <a:srgbClr val="06B6D4"/>
                </a:solidFill>
                <a:latin typeface="Arial"/>
              </a:defRPr>
            </a:pPr>
            <a:r>
              <a:t>PROJECT SYN // COMMUNITY VALUE &amp; PROBLEM STATEMENT · IBM LINUXONE (s390x)</a:t>
            </a:r>
          </a:p>
        </p:txBody>
      </p:sp>
      <p:sp>
        <p:nvSpPr>
          <p:cNvPr id="5" name="TextBox 4"/>
          <p:cNvSpPr txBox="1"/>
          <p:nvPr/>
        </p:nvSpPr>
        <p:spPr>
          <a:xfrm>
            <a:off x="731520" y="1371600"/>
            <a:ext cx="5120640" cy="4754880"/>
          </a:xfrm>
          <a:prstGeom prst="rect">
            <a:avLst/>
          </a:prstGeom>
          <a:noFill/>
        </p:spPr>
        <p:txBody>
          <a:bodyPr wrap="square">
            <a:spAutoFit/>
          </a:bodyPr>
          <a:lstStyle/>
          <a:p>
            <a:pPr>
              <a:defRPr sz="1500" b="1">
                <a:solidFill>
                  <a:srgbClr val="F59E0B"/>
                </a:solidFill>
              </a:defRPr>
            </a:pPr>
            <a:r>
              <a:t>THE REAL-WORLD THREAT MATRIX</a:t>
            </a:r>
          </a:p>
          <a:p>
            <a:pPr>
              <a:spcBef>
                <a:spcPts val="800"/>
              </a:spcBef>
              <a:defRPr sz="1300" b="1">
                <a:solidFill>
                  <a:srgbClr val="F1F5F9"/>
                </a:solidFill>
              </a:defRPr>
            </a:pPr>
            <a:r>
              <a:t>• 21+ Million Population at Risk</a:t>
            </a:r>
          </a:p>
          <a:p>
            <a:pPr>
              <a:defRPr sz="1100">
                <a:solidFill>
                  <a:srgbClr val="8493A8"/>
                </a:solidFill>
              </a:defRPr>
            </a:pPr>
            <a:r>
              <a:t>Mumbai is vulnerable to intense monsoon cloudbursts, tidal surges, and subterranean drainage backup.</a:t>
            </a:r>
          </a:p>
          <a:p>
            <a:pPr>
              <a:spcBef>
                <a:spcPts val="800"/>
              </a:spcBef>
              <a:defRPr sz="1300" b="1">
                <a:solidFill>
                  <a:srgbClr val="F1F5F9"/>
                </a:solidFill>
              </a:defRPr>
            </a:pPr>
            <a:r>
              <a:t>• The Fragile Public Cloud Trap</a:t>
            </a:r>
          </a:p>
          <a:p>
            <a:pPr>
              <a:defRPr sz="1100">
                <a:solidFill>
                  <a:srgbClr val="8493A8"/>
                </a:solidFill>
              </a:defRPr>
            </a:pPr>
            <a:r>
              <a:t>When urban disasters strike, fiber cables sever, cellular masts flood, and public cloud AI drops offline.</a:t>
            </a:r>
          </a:p>
          <a:p>
            <a:pPr>
              <a:spcBef>
                <a:spcPts val="800"/>
              </a:spcBef>
              <a:defRPr sz="1300" b="1">
                <a:solidFill>
                  <a:srgbClr val="F1F5F9"/>
                </a:solidFill>
              </a:defRPr>
            </a:pPr>
            <a:r>
              <a:t>• Adversarial Telemetry Poisoning</a:t>
            </a:r>
          </a:p>
          <a:p>
            <a:pPr>
              <a:defRPr sz="1100">
                <a:solidFill>
                  <a:srgbClr val="8493A8"/>
                </a:solidFill>
              </a:defRPr>
            </a:pPr>
            <a:r>
              <a:t>Hostile actors or sensor malfunctions inject spoofed telemetry (e.g. false low flood readings), luring ambulances into deep-water death traps.</a:t>
            </a:r>
          </a:p>
          <a:p>
            <a:pPr>
              <a:spcBef>
                <a:spcPts val="800"/>
              </a:spcBef>
              <a:defRPr sz="1300" b="1">
                <a:solidFill>
                  <a:srgbClr val="F1F5F9"/>
                </a:solidFill>
              </a:defRPr>
            </a:pPr>
            <a:r>
              <a:t>• Critical ICU Overload &amp; Fuel Collapse</a:t>
            </a:r>
          </a:p>
          <a:p>
            <a:pPr>
              <a:defRPr sz="1100">
                <a:solidFill>
                  <a:srgbClr val="8493A8"/>
                </a:solidFill>
              </a:defRPr>
            </a:pPr>
            <a:r>
              <a:t>Hospitals run out of ICU beds and diesel reserves without synchronized inter-facility communication.</a:t>
            </a:r>
          </a:p>
        </p:txBody>
      </p:sp>
      <p:sp>
        <p:nvSpPr>
          <p:cNvPr id="6" name="TextBox 5"/>
          <p:cNvSpPr txBox="1"/>
          <p:nvPr/>
        </p:nvSpPr>
        <p:spPr>
          <a:xfrm>
            <a:off x="6217920" y="1371600"/>
            <a:ext cx="5212080" cy="4754880"/>
          </a:xfrm>
          <a:prstGeom prst="rect">
            <a:avLst/>
          </a:prstGeom>
          <a:noFill/>
        </p:spPr>
        <p:txBody>
          <a:bodyPr wrap="square">
            <a:spAutoFit/>
          </a:bodyPr>
          <a:lstStyle/>
          <a:p>
            <a:pPr>
              <a:defRPr sz="1500" b="1">
                <a:solidFill>
                  <a:srgbClr val="10B981"/>
                </a:solidFill>
              </a:defRPr>
            </a:pPr>
            <a:r>
              <a:t>PERSONA &amp; METROPOLITAN TOPOLOGY</a:t>
            </a:r>
          </a:p>
          <a:p>
            <a:pPr>
              <a:spcBef>
                <a:spcPts val="800"/>
              </a:spcBef>
              <a:defRPr sz="1300" b="1">
                <a:solidFill>
                  <a:srgbClr val="F1F5F9"/>
                </a:solidFill>
              </a:defRPr>
            </a:pPr>
            <a:r>
              <a:t>• Persona: Emergency Incident Commander</a:t>
            </a:r>
          </a:p>
          <a:p>
            <a:pPr>
              <a:defRPr sz="1100">
                <a:solidFill>
                  <a:srgbClr val="8493A8"/>
                </a:solidFill>
              </a:defRPr>
            </a:pPr>
            <a:r>
              <a:t>Dr. Rajesh Kadam, Disaster Medical Officer managing ambulance triage across saturated wards.</a:t>
            </a:r>
          </a:p>
          <a:p>
            <a:pPr>
              <a:spcBef>
                <a:spcPts val="800"/>
              </a:spcBef>
              <a:defRPr sz="1300" b="1">
                <a:solidFill>
                  <a:srgbClr val="F1F5F9"/>
                </a:solidFill>
              </a:defRPr>
            </a:pPr>
            <a:r>
              <a:t>• Node 1: KEM Hospital (Parel Hub)</a:t>
            </a:r>
          </a:p>
          <a:p>
            <a:pPr>
              <a:defRPr sz="1100">
                <a:solidFill>
                  <a:srgbClr val="8493A8"/>
                </a:solidFill>
              </a:defRPr>
            </a:pPr>
            <a:r>
              <a:t>Central trauma center on LinuxONE Mainframe #1 (148.100.79.88).</a:t>
            </a:r>
          </a:p>
          <a:p>
            <a:pPr>
              <a:spcBef>
                <a:spcPts val="800"/>
              </a:spcBef>
              <a:defRPr sz="1300" b="1">
                <a:solidFill>
                  <a:srgbClr val="F1F5F9"/>
                </a:solidFill>
              </a:defRPr>
            </a:pPr>
            <a:r>
              <a:t>• Node 2: Sion Hospital (LTMGH North Hub)</a:t>
            </a:r>
          </a:p>
          <a:p>
            <a:pPr>
              <a:defRPr sz="1100">
                <a:solidFill>
                  <a:srgbClr val="8493A8"/>
                </a:solidFill>
              </a:defRPr>
            </a:pPr>
            <a:r>
              <a:t>Apex disaster reception on LinuxONE Mainframe #2 (148.100.98.9).</a:t>
            </a:r>
          </a:p>
          <a:p>
            <a:pPr>
              <a:spcBef>
                <a:spcPts val="800"/>
              </a:spcBef>
              <a:defRPr sz="1300" b="1">
                <a:solidFill>
                  <a:srgbClr val="F1F5F9"/>
                </a:solidFill>
              </a:defRPr>
            </a:pPr>
            <a:r>
              <a:t>• The Disaster Vector: Hindmata Inundation</a:t>
            </a:r>
          </a:p>
          <a:p>
            <a:pPr>
              <a:defRPr sz="1100">
                <a:solidFill>
                  <a:srgbClr val="8493A8"/>
                </a:solidFill>
              </a:defRPr>
            </a:pPr>
            <a:r>
              <a:t>1.4m flash flood inundates Hindmata &amp; Lalbaug basin, isolating JJ Hospital Byculla. System automatically computes elevated bypass over Dr. Babasaheb Ambedkar Flyover to KEM ICU Ward 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822960"/>
          </a:xfrm>
          <a:prstGeom prst="rect">
            <a:avLst/>
          </a:prstGeom>
          <a:noFill/>
        </p:spPr>
        <p:txBody>
          <a:bodyPr wrap="square">
            <a:spAutoFit/>
          </a:bodyPr>
          <a:lstStyle/>
          <a:p>
            <a:pPr>
              <a:defRPr sz="2600" b="1">
                <a:solidFill>
                  <a:srgbClr val="F1F5F9"/>
                </a:solidFill>
                <a:latin typeface="Arial"/>
              </a:defRPr>
            </a:pPr>
            <a:r>
              <a:t>Architecture Blueprint: The 3 Load-Bearing Pillars</a:t>
            </a:r>
          </a:p>
        </p:txBody>
      </p:sp>
      <p:sp>
        <p:nvSpPr>
          <p:cNvPr id="4" name="TextBox 3"/>
          <p:cNvSpPr txBox="1"/>
          <p:nvPr/>
        </p:nvSpPr>
        <p:spPr>
          <a:xfrm>
            <a:off x="731520" y="182880"/>
            <a:ext cx="7315200" cy="320040"/>
          </a:xfrm>
          <a:prstGeom prst="rect">
            <a:avLst/>
          </a:prstGeom>
          <a:noFill/>
        </p:spPr>
        <p:txBody>
          <a:bodyPr wrap="none">
            <a:spAutoFit/>
          </a:bodyPr>
          <a:lstStyle/>
          <a:p>
            <a:pPr>
              <a:defRPr sz="1100" b="1">
                <a:solidFill>
                  <a:srgbClr val="06B6D4"/>
                </a:solidFill>
                <a:latin typeface="Arial"/>
              </a:defRPr>
            </a:pPr>
            <a:r>
              <a:t>PROJECT SYN // TECHNICAL DESIGN (10 POINTS) · IBM LINUXONE (s390x)</a:t>
            </a:r>
          </a:p>
        </p:txBody>
      </p:sp>
      <p:sp>
        <p:nvSpPr>
          <p:cNvPr id="5" name="TextBox 4"/>
          <p:cNvSpPr txBox="1"/>
          <p:nvPr/>
        </p:nvSpPr>
        <p:spPr>
          <a:xfrm>
            <a:off x="731520" y="1463040"/>
            <a:ext cx="3383280" cy="4754880"/>
          </a:xfrm>
          <a:prstGeom prst="rect">
            <a:avLst/>
          </a:prstGeom>
          <a:noFill/>
        </p:spPr>
        <p:txBody>
          <a:bodyPr wrap="square">
            <a:spAutoFit/>
          </a:bodyPr>
          <a:lstStyle/>
          <a:p>
            <a:pPr>
              <a:spcAft>
                <a:spcPts val="1000"/>
              </a:spcAft>
              <a:defRPr sz="1400" b="1">
                <a:solidFill>
                  <a:srgbClr val="06B6D4"/>
                </a:solidFill>
              </a:defRPr>
            </a:pPr>
            <a:r>
              <a:t>PILLAR 1: TRUSTED TELEMETRY</a:t>
            </a:r>
          </a:p>
          <a:p>
            <a:pPr>
              <a:spcAft>
                <a:spcPts val="600"/>
              </a:spcAft>
              <a:defRPr sz="1100">
                <a:solidFill>
                  <a:srgbClr val="F1F5F9"/>
                </a:solidFill>
              </a:defRPr>
            </a:pPr>
            <a:r>
              <a:t>• IBM CPACF Hardware Gate: Zero-trust HMAC-SHA256 signature verification in 0.04 ms.</a:t>
            </a:r>
          </a:p>
          <a:p>
            <a:pPr>
              <a:spcAft>
                <a:spcPts val="600"/>
              </a:spcAft>
              <a:defRPr sz="1100">
                <a:solidFill>
                  <a:srgbClr val="F1F5F9"/>
                </a:solidFill>
              </a:defRPr>
            </a:pPr>
            <a:r>
              <a:t>• Anti-Replay Cache: Monotonic nonces (10,000 slots) prevent duplicate sensor packets.</a:t>
            </a:r>
          </a:p>
          <a:p>
            <a:pPr>
              <a:spcAft>
                <a:spcPts val="600"/>
              </a:spcAft>
              <a:defRPr sz="1100">
                <a:solidFill>
                  <a:srgbClr val="F1F5F9"/>
                </a:solidFill>
              </a:defRPr>
            </a:pPr>
            <a:r>
              <a:t>• Timestamp Drift Gate: Rejects stale telemetry &gt; 30s.</a:t>
            </a:r>
          </a:p>
          <a:p>
            <a:pPr>
              <a:spcAft>
                <a:spcPts val="600"/>
              </a:spcAft>
              <a:defRPr sz="1100">
                <a:solidFill>
                  <a:srgbClr val="F1F5F9"/>
                </a:solidFill>
              </a:defRPr>
            </a:pPr>
            <a:r>
              <a:t>• Massive CPU Savings: 94.1% of useless AI compute avoided by dropping spoofed packets at the hardware gate.</a:t>
            </a:r>
          </a:p>
        </p:txBody>
      </p:sp>
      <p:sp>
        <p:nvSpPr>
          <p:cNvPr id="6" name="TextBox 5"/>
          <p:cNvSpPr txBox="1"/>
          <p:nvPr/>
        </p:nvSpPr>
        <p:spPr>
          <a:xfrm>
            <a:off x="4389120" y="1463040"/>
            <a:ext cx="3383280" cy="4754880"/>
          </a:xfrm>
          <a:prstGeom prst="rect">
            <a:avLst/>
          </a:prstGeom>
          <a:noFill/>
        </p:spPr>
        <p:txBody>
          <a:bodyPr wrap="square">
            <a:spAutoFit/>
          </a:bodyPr>
          <a:lstStyle/>
          <a:p>
            <a:pPr>
              <a:spcAft>
                <a:spcPts val="1000"/>
              </a:spcAft>
              <a:defRPr sz="1400" b="1">
                <a:solidFill>
                  <a:srgbClr val="10B981"/>
                </a:solidFill>
              </a:defRPr>
            </a:pPr>
            <a:r>
              <a:t>PILLAR 2: COMPOSITE AI &amp; ROUTING</a:t>
            </a:r>
          </a:p>
          <a:p>
            <a:pPr>
              <a:spcAft>
                <a:spcPts val="600"/>
              </a:spcAft>
              <a:defRPr sz="1100">
                <a:solidFill>
                  <a:srgbClr val="F1F5F9"/>
                </a:solidFill>
              </a:defRPr>
            </a:pPr>
            <a:r>
              <a:t>• Snap ML &amp; Scikit-Learn: Random Forest &amp; Isolation Forest trained on 50,000 historical Mumbai disaster events.</a:t>
            </a:r>
          </a:p>
          <a:p>
            <a:pPr>
              <a:spcAft>
                <a:spcPts val="600"/>
              </a:spcAft>
              <a:defRPr sz="1100">
                <a:solidFill>
                  <a:srgbClr val="F1F5F9"/>
                </a:solidFill>
              </a:defRPr>
            </a:pPr>
            <a:r>
              <a:t>• Telum On-Chip nnpa: Hardware AI acceleration directly on the IBM z16 processor with zero PCIe lag.</a:t>
            </a:r>
          </a:p>
          <a:p>
            <a:pPr>
              <a:spcAft>
                <a:spcPts val="600"/>
              </a:spcAft>
              <a:defRPr sz="1100">
                <a:solidFill>
                  <a:srgbClr val="F1F5F9"/>
                </a:solidFill>
              </a:defRPr>
            </a:pPr>
            <a:r>
              <a:t>• Deterministic Dijkstra Router: Real-time road corridor graph recalculating around submerged streets.</a:t>
            </a:r>
          </a:p>
          <a:p>
            <a:pPr>
              <a:spcAft>
                <a:spcPts val="600"/>
              </a:spcAft>
              <a:defRPr sz="1100">
                <a:solidFill>
                  <a:srgbClr val="F1F5F9"/>
                </a:solidFill>
              </a:defRPr>
            </a:pPr>
            <a:r>
              <a:t>• Trilingual AI Translation: English, Hindi, and Marathi automated dispatch.</a:t>
            </a:r>
          </a:p>
        </p:txBody>
      </p:sp>
      <p:sp>
        <p:nvSpPr>
          <p:cNvPr id="7" name="TextBox 6"/>
          <p:cNvSpPr txBox="1"/>
          <p:nvPr/>
        </p:nvSpPr>
        <p:spPr>
          <a:xfrm>
            <a:off x="8046720" y="1463040"/>
            <a:ext cx="3383280" cy="4754880"/>
          </a:xfrm>
          <a:prstGeom prst="rect">
            <a:avLst/>
          </a:prstGeom>
          <a:noFill/>
        </p:spPr>
        <p:txBody>
          <a:bodyPr wrap="square">
            <a:spAutoFit/>
          </a:bodyPr>
          <a:lstStyle/>
          <a:p>
            <a:pPr>
              <a:spcAft>
                <a:spcPts val="1000"/>
              </a:spcAft>
              <a:defRPr sz="1400" b="1">
                <a:solidFill>
                  <a:srgbClr val="F59E0B"/>
                </a:solidFill>
              </a:defRPr>
            </a:pPr>
            <a:r>
              <a:t>PILLAR 3: TAMPER-EVIDENT LEDGER</a:t>
            </a:r>
          </a:p>
          <a:p>
            <a:pPr>
              <a:spcAft>
                <a:spcPts val="600"/>
              </a:spcAft>
              <a:defRPr sz="1100">
                <a:solidFill>
                  <a:srgbClr val="F1F5F9"/>
                </a:solidFill>
              </a:defRPr>
            </a:pPr>
            <a:r>
              <a:t>• Sequential Hash Chaining: SHA-256(Block_{n-1} + Nonce + Payload) logged into SQLite Write-Ahead Logging (WAL).</a:t>
            </a:r>
          </a:p>
          <a:p>
            <a:pPr>
              <a:spcAft>
                <a:spcPts val="600"/>
              </a:spcAft>
              <a:defRPr sz="1100">
                <a:solidFill>
                  <a:srgbClr val="F1F5F9"/>
                </a:solidFill>
              </a:defRPr>
            </a:pPr>
            <a:r>
              <a:t>• 100% Proven Auditability: Changing any byte breaks every subsequent block hash.</a:t>
            </a:r>
          </a:p>
          <a:p>
            <a:pPr>
              <a:spcAft>
                <a:spcPts val="600"/>
              </a:spcAft>
              <a:defRPr sz="1100">
                <a:solidFill>
                  <a:srgbClr val="F1F5F9"/>
                </a:solidFill>
              </a:defRPr>
            </a:pPr>
            <a:r>
              <a:t>• Shock-Absorber Buffer: Ingests 1,200+ requests/sec via asyncio queue.</a:t>
            </a:r>
          </a:p>
          <a:p>
            <a:pPr>
              <a:spcAft>
                <a:spcPts val="600"/>
              </a:spcAft>
              <a:defRPr sz="1100">
                <a:solidFill>
                  <a:srgbClr val="F1F5F9"/>
                </a:solidFill>
              </a:defRPr>
            </a:pPr>
            <a:r>
              <a:t>• 7,600+ Verified Blocks: Proven live on the s390x mainframe.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822960"/>
          </a:xfrm>
          <a:prstGeom prst="rect">
            <a:avLst/>
          </a:prstGeom>
          <a:noFill/>
        </p:spPr>
        <p:txBody>
          <a:bodyPr wrap="square">
            <a:spAutoFit/>
          </a:bodyPr>
          <a:lstStyle/>
          <a:p>
            <a:pPr>
              <a:defRPr sz="2600" b="1">
                <a:solidFill>
                  <a:srgbClr val="F1F5F9"/>
                </a:solidFill>
                <a:latin typeface="Arial"/>
              </a:defRPr>
            </a:pPr>
            <a:r>
              <a:t>Exploiting Native IBM Z Enterprise Hardware</a:t>
            </a:r>
          </a:p>
        </p:txBody>
      </p:sp>
      <p:sp>
        <p:nvSpPr>
          <p:cNvPr id="4" name="TextBox 3"/>
          <p:cNvSpPr txBox="1"/>
          <p:nvPr/>
        </p:nvSpPr>
        <p:spPr>
          <a:xfrm>
            <a:off x="731520" y="182880"/>
            <a:ext cx="7315200" cy="320040"/>
          </a:xfrm>
          <a:prstGeom prst="rect">
            <a:avLst/>
          </a:prstGeom>
          <a:noFill/>
        </p:spPr>
        <p:txBody>
          <a:bodyPr wrap="none">
            <a:spAutoFit/>
          </a:bodyPr>
          <a:lstStyle/>
          <a:p>
            <a:pPr>
              <a:defRPr sz="1100" b="1">
                <a:solidFill>
                  <a:srgbClr val="06B6D4"/>
                </a:solidFill>
                <a:latin typeface="Arial"/>
              </a:defRPr>
            </a:pPr>
            <a:r>
              <a:t>PROJECT SYN // PLATFORM SECURITY &amp; HARDWARE ACCELERATION · IBM LINUXONE (s390x)</a:t>
            </a:r>
          </a:p>
        </p:txBody>
      </p:sp>
      <p:sp>
        <p:nvSpPr>
          <p:cNvPr id="5" name="TextBox 4"/>
          <p:cNvSpPr txBox="1"/>
          <p:nvPr/>
        </p:nvSpPr>
        <p:spPr>
          <a:xfrm>
            <a:off x="731520" y="1463040"/>
            <a:ext cx="10698480" cy="4754880"/>
          </a:xfrm>
          <a:prstGeom prst="rect">
            <a:avLst/>
          </a:prstGeom>
          <a:noFill/>
        </p:spPr>
        <p:txBody>
          <a:bodyPr wrap="square">
            <a:spAutoFit/>
          </a:bodyPr>
          <a:lstStyle/>
          <a:p/>
          <a:p>
            <a:pPr>
              <a:spcBef>
                <a:spcPts val="800"/>
              </a:spcBef>
              <a:defRPr sz="1400" b="1">
                <a:solidFill>
                  <a:srgbClr val="06B6D4"/>
                </a:solidFill>
              </a:defRPr>
            </a:pPr>
            <a:r>
              <a:t>▶ IBM z16 Machine Type 9175 (s390x Architecture)</a:t>
            </a:r>
          </a:p>
          <a:p>
            <a:pPr>
              <a:defRPr sz="1150">
                <a:solidFill>
                  <a:srgbClr val="8493A8"/>
                </a:solidFill>
              </a:defRPr>
            </a:pPr>
            <a:r>
              <a:t>Running natively on IBM LinuxONE Community Cloud bare-metal VM (3 vCPUs, 8 GB RAM, 50 GB DASD Disk on Ubuntu 24.04).</a:t>
            </a:r>
          </a:p>
          <a:p>
            <a:pPr>
              <a:spcBef>
                <a:spcPts val="800"/>
              </a:spcBef>
              <a:defRPr sz="1400" b="1">
                <a:solidFill>
                  <a:srgbClr val="10B981"/>
                </a:solidFill>
              </a:defRPr>
            </a:pPr>
            <a:r>
              <a:t>▶ CPACF (Central Processor Assist for Cryptographic Functions)</a:t>
            </a:r>
          </a:p>
          <a:p>
            <a:pPr>
              <a:defRPr sz="1150">
                <a:solidFill>
                  <a:srgbClr val="8493A8"/>
                </a:solidFill>
              </a:defRPr>
            </a:pPr>
            <a:r>
              <a:t>Message-Security-Assist (MSA-1 through MSA-9) flags. Executes hardware-accelerated SHA-256 and AES instructions (KM, KMC, KMAC, KIMD, KLMD). Verifies sensor HMACs in 0.04 ms with near-zero CPU overhead.</a:t>
            </a:r>
          </a:p>
          <a:p>
            <a:pPr>
              <a:spcBef>
                <a:spcPts val="800"/>
              </a:spcBef>
              <a:defRPr sz="1400" b="1">
                <a:solidFill>
                  <a:srgbClr val="F59E0B"/>
                </a:solidFill>
              </a:defRPr>
            </a:pPr>
            <a:r>
              <a:t>▶ Telum On-Chip AI Accelerator (nnpa Instruction Set)</a:t>
            </a:r>
          </a:p>
          <a:p>
            <a:pPr>
              <a:defRPr sz="1150">
                <a:solidFill>
                  <a:srgbClr val="8493A8"/>
                </a:solidFill>
              </a:defRPr>
            </a:pPr>
            <a:r>
              <a:t>IBM's dual-chip Telum microprocessor integrates dedicated AI execution units directly on silicon. In Project Syn, tree models (Snap ML) and neural layers execute directly in the transaction loop without remote GPU communication latency.</a:t>
            </a:r>
          </a:p>
          <a:p>
            <a:pPr>
              <a:spcBef>
                <a:spcPts val="800"/>
              </a:spcBef>
              <a:defRPr sz="1400" b="1">
                <a:solidFill>
                  <a:srgbClr val="F1F5F9"/>
                </a:solidFill>
              </a:defRPr>
            </a:pPr>
            <a:r>
              <a:t>▶ Pervasive Encryption &amp; Big-Endian Determinism</a:t>
            </a:r>
          </a:p>
          <a:p>
            <a:pPr>
              <a:defRPr sz="1150">
                <a:solidFill>
                  <a:srgbClr val="8493A8"/>
                </a:solidFill>
              </a:defRPr>
            </a:pPr>
            <a:r>
              <a:t>s390x Big-Endian architecture guarantees identical bit-level hashing across cryptographic ledger operations, ensuring zero cross-platform drift in life-critical medical dispatch.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822960"/>
          </a:xfrm>
          <a:prstGeom prst="rect">
            <a:avLst/>
          </a:prstGeom>
          <a:noFill/>
        </p:spPr>
        <p:txBody>
          <a:bodyPr wrap="square">
            <a:spAutoFit/>
          </a:bodyPr>
          <a:lstStyle/>
          <a:p>
            <a:pPr>
              <a:defRPr sz="2600" b="1">
                <a:solidFill>
                  <a:srgbClr val="F1F5F9"/>
                </a:solidFill>
                <a:latin typeface="Arial"/>
              </a:defRPr>
            </a:pPr>
            <a:r>
              <a:t>Multi-Node Inter-Hospital LinuxONE Cluster</a:t>
            </a:r>
          </a:p>
        </p:txBody>
      </p:sp>
      <p:sp>
        <p:nvSpPr>
          <p:cNvPr id="4" name="TextBox 3"/>
          <p:cNvSpPr txBox="1"/>
          <p:nvPr/>
        </p:nvSpPr>
        <p:spPr>
          <a:xfrm>
            <a:off x="731520" y="182880"/>
            <a:ext cx="7315200" cy="320040"/>
          </a:xfrm>
          <a:prstGeom prst="rect">
            <a:avLst/>
          </a:prstGeom>
          <a:noFill/>
        </p:spPr>
        <p:txBody>
          <a:bodyPr wrap="none">
            <a:spAutoFit/>
          </a:bodyPr>
          <a:lstStyle/>
          <a:p>
            <a:pPr>
              <a:defRPr sz="1100" b="1">
                <a:solidFill>
                  <a:srgbClr val="06B6D4"/>
                </a:solidFill>
                <a:latin typeface="Arial"/>
              </a:defRPr>
            </a:pPr>
            <a:r>
              <a:t>PROJECT SYN // NOVELTY &amp; DISTRIBUTED MAINFRAME DESIGN · IBM LINUXONE (s390x)</a:t>
            </a:r>
          </a:p>
        </p:txBody>
      </p:sp>
      <p:sp>
        <p:nvSpPr>
          <p:cNvPr id="5" name="TextBox 4"/>
          <p:cNvSpPr txBox="1"/>
          <p:nvPr/>
        </p:nvSpPr>
        <p:spPr>
          <a:xfrm>
            <a:off x="731520" y="1463040"/>
            <a:ext cx="10698480" cy="4754880"/>
          </a:xfrm>
          <a:prstGeom prst="rect">
            <a:avLst/>
          </a:prstGeom>
          <a:noFill/>
        </p:spPr>
        <p:txBody>
          <a:bodyPr wrap="square">
            <a:spAutoFit/>
          </a:bodyPr>
          <a:lstStyle/>
          <a:p/>
          <a:p>
            <a:pPr>
              <a:spcBef>
                <a:spcPts val="800"/>
              </a:spcBef>
              <a:defRPr sz="1350" b="1">
                <a:solidFill>
                  <a:srgbClr val="10B981"/>
                </a:solidFill>
              </a:defRPr>
            </a:pPr>
            <a:r>
              <a:t>✔ Two Independent Event-Registered Mainframes in Real-Time Federation</a:t>
            </a:r>
          </a:p>
          <a:p>
            <a:pPr>
              <a:defRPr sz="1150">
                <a:solidFill>
                  <a:srgbClr val="F1F5F9"/>
                </a:solidFill>
              </a:defRPr>
            </a:pPr>
            <a:r>
              <a:t>Node 1 (148.100.79.88: KEM Hospital Parel) and Node 2 (148.100.98.9: Sion Hospital LTMGH) form an encrypted disaster resilient mesh.</a:t>
            </a:r>
          </a:p>
          <a:p>
            <a:pPr>
              <a:spcBef>
                <a:spcPts val="800"/>
              </a:spcBef>
              <a:defRPr sz="1350" b="1">
                <a:solidFill>
                  <a:srgbClr val="10B981"/>
                </a:solidFill>
              </a:defRPr>
            </a:pPr>
            <a:r>
              <a:t>✔ Cross-Hospital ICU Surge Diversion</a:t>
            </a:r>
          </a:p>
          <a:p>
            <a:pPr>
              <a:defRPr sz="1150">
                <a:solidFill>
                  <a:srgbClr val="F1F5F9"/>
                </a:solidFill>
              </a:defRPr>
            </a:pPr>
            <a:r>
              <a:t>When KEM Hospital ICU occupancy crosses 92%, its AI Incident Commander generates a cryptographically signed evacuation manifest, automatically diverting inbound ambulances to Sion Hospital.</a:t>
            </a:r>
          </a:p>
          <a:p>
            <a:pPr>
              <a:spcBef>
                <a:spcPts val="800"/>
              </a:spcBef>
              <a:defRPr sz="1350" b="1">
                <a:solidFill>
                  <a:srgbClr val="10B981"/>
                </a:solidFill>
              </a:defRPr>
            </a:pPr>
            <a:r>
              <a:t>✔ P2P Blood Bank Cold-Chain Allocation</a:t>
            </a:r>
          </a:p>
          <a:p>
            <a:pPr>
              <a:defRPr sz="1150">
                <a:solidFill>
                  <a:srgbClr val="F1F5F9"/>
                </a:solidFill>
              </a:defRPr>
            </a:pPr>
            <a:r>
              <a:t>Monitors blood reserve levels across KEM and Sion in real time. Dispatches courier transport tickets with road transit calculations.</a:t>
            </a:r>
          </a:p>
          <a:p>
            <a:pPr>
              <a:spcBef>
                <a:spcPts val="800"/>
              </a:spcBef>
              <a:defRPr sz="1350" b="1">
                <a:solidFill>
                  <a:srgbClr val="10B981"/>
                </a:solidFill>
              </a:defRPr>
            </a:pPr>
            <a:r>
              <a:t>✔ Cross-Ledger Cryptographic Hash Pinning</a:t>
            </a:r>
          </a:p>
          <a:p>
            <a:pPr>
              <a:defRPr sz="1150">
                <a:solidFill>
                  <a:srgbClr val="F1F5F9"/>
                </a:solidFill>
              </a:defRPr>
            </a:pPr>
            <a:r>
              <a:t>Every 100 blocks, Node 1 anchors its latest block hash into Node 2's ledger (and vice versa). Neither institution can alter casualty or triage logs during disaster audits, establishing decentralized dual-mainframe auditability.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822960"/>
          </a:xfrm>
          <a:prstGeom prst="rect">
            <a:avLst/>
          </a:prstGeom>
          <a:noFill/>
        </p:spPr>
        <p:txBody>
          <a:bodyPr wrap="square">
            <a:spAutoFit/>
          </a:bodyPr>
          <a:lstStyle/>
          <a:p>
            <a:pPr>
              <a:defRPr sz="2600" b="1">
                <a:solidFill>
                  <a:srgbClr val="F1F5F9"/>
                </a:solidFill>
                <a:latin typeface="Arial"/>
              </a:defRPr>
            </a:pPr>
            <a:r>
              <a:t>3-Tiered Sovereignty Modes: Zero-Internet Autonomy</a:t>
            </a:r>
          </a:p>
        </p:txBody>
      </p:sp>
      <p:sp>
        <p:nvSpPr>
          <p:cNvPr id="4" name="TextBox 3"/>
          <p:cNvSpPr txBox="1"/>
          <p:nvPr/>
        </p:nvSpPr>
        <p:spPr>
          <a:xfrm>
            <a:off x="731520" y="182880"/>
            <a:ext cx="7315200" cy="320040"/>
          </a:xfrm>
          <a:prstGeom prst="rect">
            <a:avLst/>
          </a:prstGeom>
          <a:noFill/>
        </p:spPr>
        <p:txBody>
          <a:bodyPr wrap="none">
            <a:spAutoFit/>
          </a:bodyPr>
          <a:lstStyle/>
          <a:p>
            <a:pPr>
              <a:defRPr sz="1100" b="1">
                <a:solidFill>
                  <a:srgbClr val="06B6D4"/>
                </a:solidFill>
                <a:latin typeface="Arial"/>
              </a:defRPr>
            </a:pPr>
            <a:r>
              <a:t>PROJECT SYN // NOVELTY &amp; DISASTER SOVEREIGNTY · IBM LINUXONE (s390x)</a:t>
            </a:r>
          </a:p>
        </p:txBody>
      </p:sp>
      <p:sp>
        <p:nvSpPr>
          <p:cNvPr id="5" name="TextBox 4"/>
          <p:cNvSpPr txBox="1"/>
          <p:nvPr/>
        </p:nvSpPr>
        <p:spPr>
          <a:xfrm>
            <a:off x="731520" y="1463040"/>
            <a:ext cx="3383280" cy="4754880"/>
          </a:xfrm>
          <a:prstGeom prst="rect">
            <a:avLst/>
          </a:prstGeom>
          <a:noFill/>
        </p:spPr>
        <p:txBody>
          <a:bodyPr wrap="square">
            <a:spAutoFit/>
          </a:bodyPr>
          <a:lstStyle/>
          <a:p>
            <a:pPr>
              <a:spcAft>
                <a:spcPts val="1000"/>
              </a:spcAft>
              <a:defRPr sz="1400" b="1">
                <a:solidFill>
                  <a:srgbClr val="06B6D4"/>
                </a:solidFill>
              </a:defRPr>
            </a:pPr>
            <a:r>
              <a:t>MODE 01: CONNECTED</a:t>
            </a:r>
          </a:p>
          <a:p>
            <a:pPr>
              <a:spcAft>
                <a:spcPts val="800"/>
              </a:spcAft>
              <a:defRPr sz="1150">
                <a:solidFill>
                  <a:srgbClr val="F1F5F9"/>
                </a:solidFill>
              </a:defRPr>
            </a:pPr>
            <a:r>
              <a:t>• Public Cloud Internet Active.</a:t>
            </a:r>
          </a:p>
          <a:p>
            <a:pPr>
              <a:spcAft>
                <a:spcPts val="800"/>
              </a:spcAft>
              <a:defRPr sz="1150">
                <a:solidFill>
                  <a:srgbClr val="F1F5F9"/>
                </a:solidFill>
              </a:defRPr>
            </a:pPr>
            <a:r>
              <a:t>• Google Gemini 2.0 / OpenRouter Llama 3.3 70B &amp; NVIDIA Nemotron cascade.</a:t>
            </a:r>
          </a:p>
          <a:p>
            <a:pPr>
              <a:spcAft>
                <a:spcPts val="800"/>
              </a:spcAft>
              <a:defRPr sz="1150">
                <a:solidFill>
                  <a:srgbClr val="F1F5F9"/>
                </a:solidFill>
              </a:defRPr>
            </a:pPr>
            <a:r>
              <a:t>• Automated Telegram Emergency Dispatch to Field Paramedics.</a:t>
            </a:r>
          </a:p>
        </p:txBody>
      </p:sp>
      <p:sp>
        <p:nvSpPr>
          <p:cNvPr id="6" name="TextBox 5"/>
          <p:cNvSpPr txBox="1"/>
          <p:nvPr/>
        </p:nvSpPr>
        <p:spPr>
          <a:xfrm>
            <a:off x="4389120" y="1463040"/>
            <a:ext cx="3383280" cy="4754880"/>
          </a:xfrm>
          <a:prstGeom prst="rect">
            <a:avLst/>
          </a:prstGeom>
          <a:noFill/>
        </p:spPr>
        <p:txBody>
          <a:bodyPr wrap="square">
            <a:spAutoFit/>
          </a:bodyPr>
          <a:lstStyle/>
          <a:p>
            <a:pPr>
              <a:spcAft>
                <a:spcPts val="1000"/>
              </a:spcAft>
              <a:defRPr sz="1400" b="1">
                <a:solidFill>
                  <a:srgbClr val="F59E0B"/>
                </a:solidFill>
              </a:defRPr>
            </a:pPr>
            <a:r>
              <a:t>MODE 02: SOVEREIGN (AIR-GAPPED)</a:t>
            </a:r>
          </a:p>
          <a:p>
            <a:pPr>
              <a:spcAft>
                <a:spcPts val="800"/>
              </a:spcAft>
              <a:defRPr sz="1150">
                <a:solidFill>
                  <a:srgbClr val="F1F5F9"/>
                </a:solidFill>
              </a:defRPr>
            </a:pPr>
            <a:r>
              <a:t>• Total Internet Severance Detected.</a:t>
            </a:r>
          </a:p>
          <a:p>
            <a:pPr>
              <a:spcAft>
                <a:spcPts val="800"/>
              </a:spcAft>
              <a:defRPr sz="1150">
                <a:solidFill>
                  <a:srgbClr val="F1F5F9"/>
                </a:solidFill>
              </a:defRPr>
            </a:pPr>
            <a:r>
              <a:t>• Local Big-Endian AI Engine on IBM LinuxONE takes over instantly.</a:t>
            </a:r>
          </a:p>
          <a:p>
            <a:pPr>
              <a:spcAft>
                <a:spcPts val="800"/>
              </a:spcAft>
              <a:defRPr sz="1150">
                <a:solidFill>
                  <a:srgbClr val="F1F5F9"/>
                </a:solidFill>
              </a:defRPr>
            </a:pPr>
            <a:r>
              <a:t>• Trilingual Marathi, Hindi, and English incident briefs rendered locally without external cloud calls.</a:t>
            </a:r>
          </a:p>
        </p:txBody>
      </p:sp>
      <p:sp>
        <p:nvSpPr>
          <p:cNvPr id="7" name="TextBox 6"/>
          <p:cNvSpPr txBox="1"/>
          <p:nvPr/>
        </p:nvSpPr>
        <p:spPr>
          <a:xfrm>
            <a:off x="8046720" y="1463040"/>
            <a:ext cx="3383280" cy="4754880"/>
          </a:xfrm>
          <a:prstGeom prst="rect">
            <a:avLst/>
          </a:prstGeom>
          <a:noFill/>
        </p:spPr>
        <p:txBody>
          <a:bodyPr wrap="square">
            <a:spAutoFit/>
          </a:bodyPr>
          <a:lstStyle/>
          <a:p>
            <a:pPr>
              <a:spcAft>
                <a:spcPts val="1000"/>
              </a:spcAft>
              <a:defRPr sz="1400" b="1">
                <a:solidFill>
                  <a:srgbClr val="10B981"/>
                </a:solidFill>
              </a:defRPr>
            </a:pPr>
            <a:r>
              <a:t>MODE 03: DEGRADED (RADIO MESH)</a:t>
            </a:r>
          </a:p>
          <a:p>
            <a:pPr>
              <a:spcAft>
                <a:spcPts val="800"/>
              </a:spcAft>
              <a:defRPr sz="1150">
                <a:solidFill>
                  <a:srgbClr val="F1F5F9"/>
                </a:solidFill>
              </a:defRPr>
            </a:pPr>
            <a:r>
              <a:t>• Catastrophic Local Damage &amp; Power Outage.</a:t>
            </a:r>
          </a:p>
          <a:p>
            <a:pPr>
              <a:spcAft>
                <a:spcPts val="800"/>
              </a:spcAft>
              <a:defRPr sz="1150">
                <a:solidFill>
                  <a:srgbClr val="F1F5F9"/>
                </a:solidFill>
              </a:defRPr>
            </a:pPr>
            <a:r>
              <a:t>• P2P Sub-GHz Radio Mesh (868/915 MHz) transmits compact CPACF-authenticated telemetry packets directly between hospital towers.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822960"/>
          </a:xfrm>
          <a:prstGeom prst="rect">
            <a:avLst/>
          </a:prstGeom>
          <a:noFill/>
        </p:spPr>
        <p:txBody>
          <a:bodyPr wrap="square">
            <a:spAutoFit/>
          </a:bodyPr>
          <a:lstStyle/>
          <a:p>
            <a:pPr>
              <a:defRPr sz="2600" b="1">
                <a:solidFill>
                  <a:srgbClr val="F1F5F9"/>
                </a:solidFill>
                <a:latin typeface="Arial"/>
              </a:defRPr>
            </a:pPr>
            <a:r>
              <a:t>Multi-Constellation Satellite Earth Observation</a:t>
            </a:r>
          </a:p>
        </p:txBody>
      </p:sp>
      <p:sp>
        <p:nvSpPr>
          <p:cNvPr id="4" name="TextBox 3"/>
          <p:cNvSpPr txBox="1"/>
          <p:nvPr/>
        </p:nvSpPr>
        <p:spPr>
          <a:xfrm>
            <a:off x="731520" y="182880"/>
            <a:ext cx="7315200" cy="320040"/>
          </a:xfrm>
          <a:prstGeom prst="rect">
            <a:avLst/>
          </a:prstGeom>
          <a:noFill/>
        </p:spPr>
        <p:txBody>
          <a:bodyPr wrap="none">
            <a:spAutoFit/>
          </a:bodyPr>
          <a:lstStyle/>
          <a:p>
            <a:pPr>
              <a:defRPr sz="1100" b="1">
                <a:solidFill>
                  <a:srgbClr val="06B6D4"/>
                </a:solidFill>
                <a:latin typeface="Arial"/>
              </a:defRPr>
            </a:pPr>
            <a:r>
              <a:t>PROJECT SYN // TECHNICAL DESIGN &amp; DATA INTEGRATION · IBM LINUXONE (s390x)</a:t>
            </a:r>
          </a:p>
        </p:txBody>
      </p:sp>
      <p:sp>
        <p:nvSpPr>
          <p:cNvPr id="5" name="TextBox 4"/>
          <p:cNvSpPr txBox="1"/>
          <p:nvPr/>
        </p:nvSpPr>
        <p:spPr>
          <a:xfrm>
            <a:off x="731520" y="1463040"/>
            <a:ext cx="10698480" cy="4754880"/>
          </a:xfrm>
          <a:prstGeom prst="rect">
            <a:avLst/>
          </a:prstGeom>
          <a:noFill/>
        </p:spPr>
        <p:txBody>
          <a:bodyPr wrap="square">
            <a:spAutoFit/>
          </a:bodyPr>
          <a:lstStyle/>
          <a:p/>
          <a:p>
            <a:pPr>
              <a:spcBef>
                <a:spcPts val="800"/>
              </a:spcBef>
              <a:defRPr sz="1350" b="1">
                <a:solidFill>
                  <a:srgbClr val="06B6D4"/>
                </a:solidFill>
              </a:defRPr>
            </a:pPr>
            <a:r>
              <a:t>🛰 ISRO INSAT-3DS (82.0°E Geostationary Orbit)</a:t>
            </a:r>
          </a:p>
          <a:p>
            <a:pPr>
              <a:defRPr sz="1150">
                <a:solidFill>
                  <a:srgbClr val="F1F5F9"/>
                </a:solidFill>
              </a:defRPr>
            </a:pPr>
            <a:r>
              <a:t>6-Channel Multi-Spectral Imager providing 15-minute sector scans of monsoon cloudbursts, precipitation estimates, and cloud-top temperatures (-62.4°C).</a:t>
            </a:r>
          </a:p>
          <a:p>
            <a:pPr>
              <a:spcBef>
                <a:spcPts val="800"/>
              </a:spcBef>
              <a:defRPr sz="1350" b="1">
                <a:solidFill>
                  <a:srgbClr val="06B6D4"/>
                </a:solidFill>
              </a:defRPr>
            </a:pPr>
            <a:r>
              <a:t>🛰 ESA Copernicus Sentinel-1C (Synthetic Aperture Radar)</a:t>
            </a:r>
          </a:p>
          <a:p>
            <a:pPr>
              <a:defRPr sz="1150">
                <a:solidFill>
                  <a:srgbClr val="F1F5F9"/>
                </a:solidFill>
              </a:defRPr>
            </a:pPr>
            <a:r>
              <a:t>C-Band SAR penetrates 100% of monsoon storm cloud cover, delivering high-resolution inundation polygons over Mumbai's lowlands (Mithi River watershed).</a:t>
            </a:r>
          </a:p>
          <a:p>
            <a:pPr>
              <a:spcBef>
                <a:spcPts val="800"/>
              </a:spcBef>
              <a:defRPr sz="1350" b="1">
                <a:solidFill>
                  <a:srgbClr val="06B6D4"/>
                </a:solidFill>
              </a:defRPr>
            </a:pPr>
            <a:r>
              <a:t>🛰 NASA GPM Core Observatory (Dual-Frequency Radar)</a:t>
            </a:r>
          </a:p>
          <a:p>
            <a:pPr>
              <a:defRPr sz="1150">
                <a:solidFill>
                  <a:srgbClr val="F1F5F9"/>
                </a:solidFill>
              </a:defRPr>
            </a:pPr>
            <a:r>
              <a:t>Ku/Ka-Band precipitation radar measuring peak monsoon rain intensity and lightning flash density.</a:t>
            </a:r>
          </a:p>
          <a:p>
            <a:pPr>
              <a:spcBef>
                <a:spcPts val="800"/>
              </a:spcBef>
              <a:defRPr sz="1350" b="1">
                <a:solidFill>
                  <a:srgbClr val="06B6D4"/>
                </a:solidFill>
              </a:defRPr>
            </a:pPr>
            <a:r>
              <a:t>🛰 NOAA-20 / VIIRS Day-Night Band (DNB)</a:t>
            </a:r>
          </a:p>
          <a:p>
            <a:pPr>
              <a:defRPr sz="1150">
                <a:solidFill>
                  <a:srgbClr val="F1F5F9"/>
                </a:solidFill>
              </a:defRPr>
            </a:pPr>
            <a:r>
              <a:t>Panchromatic nighttime radiance sensor detecting power grid blackouts across urban wards.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822960"/>
          </a:xfrm>
          <a:prstGeom prst="rect">
            <a:avLst/>
          </a:prstGeom>
          <a:noFill/>
        </p:spPr>
        <p:txBody>
          <a:bodyPr wrap="square">
            <a:spAutoFit/>
          </a:bodyPr>
          <a:lstStyle/>
          <a:p>
            <a:pPr>
              <a:defRPr sz="2600" b="1">
                <a:solidFill>
                  <a:srgbClr val="F1F5F9"/>
                </a:solidFill>
                <a:latin typeface="Arial"/>
              </a:defRPr>
            </a:pPr>
            <a:r>
              <a:t>Live Demonstration Walkthrough (3-Minute Sequence)</a:t>
            </a:r>
          </a:p>
        </p:txBody>
      </p:sp>
      <p:sp>
        <p:nvSpPr>
          <p:cNvPr id="4" name="TextBox 3"/>
          <p:cNvSpPr txBox="1"/>
          <p:nvPr/>
        </p:nvSpPr>
        <p:spPr>
          <a:xfrm>
            <a:off x="731520" y="182880"/>
            <a:ext cx="7315200" cy="320040"/>
          </a:xfrm>
          <a:prstGeom prst="rect">
            <a:avLst/>
          </a:prstGeom>
          <a:noFill/>
        </p:spPr>
        <p:txBody>
          <a:bodyPr wrap="none">
            <a:spAutoFit/>
          </a:bodyPr>
          <a:lstStyle/>
          <a:p>
            <a:pPr>
              <a:defRPr sz="1100" b="1">
                <a:solidFill>
                  <a:srgbClr val="06B6D4"/>
                </a:solidFill>
                <a:latin typeface="Arial"/>
              </a:defRPr>
            </a:pPr>
            <a:r>
              <a:t>PROJECT SYN // PITCH &amp; DELIVERY (10 POINTS) · IBM LINUXONE (s390x)</a:t>
            </a:r>
          </a:p>
        </p:txBody>
      </p:sp>
      <p:sp>
        <p:nvSpPr>
          <p:cNvPr id="5" name="TextBox 4"/>
          <p:cNvSpPr txBox="1"/>
          <p:nvPr/>
        </p:nvSpPr>
        <p:spPr>
          <a:xfrm>
            <a:off x="731520" y="1463040"/>
            <a:ext cx="10698480" cy="4754880"/>
          </a:xfrm>
          <a:prstGeom prst="rect">
            <a:avLst/>
          </a:prstGeom>
          <a:noFill/>
        </p:spPr>
        <p:txBody>
          <a:bodyPr wrap="square">
            <a:spAutoFit/>
          </a:bodyPr>
          <a:lstStyle/>
          <a:p/>
          <a:p>
            <a:pPr>
              <a:spcBef>
                <a:spcPts val="600"/>
              </a:spcBef>
              <a:defRPr sz="1300" b="1">
                <a:solidFill>
                  <a:srgbClr val="F59E0B"/>
                </a:solidFill>
              </a:defRPr>
            </a:pPr>
            <a:r>
              <a:t>⏱ 0:00 - 0:40 | Baseline Nominal Operations</a:t>
            </a:r>
          </a:p>
          <a:p>
            <a:pPr>
              <a:defRPr sz="1100">
                <a:solidFill>
                  <a:srgbClr val="F1F5F9"/>
                </a:solidFill>
              </a:defRPr>
            </a:pPr>
            <a:r>
              <a:t>Show live telemetry flowing from IoT sensors through the IBM CPACF gate on LinuxONE. Verify 100% chain integrity in SQLite WAL ledger. Display real-time UI.</a:t>
            </a:r>
          </a:p>
          <a:p>
            <a:pPr>
              <a:spcBef>
                <a:spcPts val="600"/>
              </a:spcBef>
              <a:defRPr sz="1300" b="1">
                <a:solidFill>
                  <a:srgbClr val="F59E0B"/>
                </a:solidFill>
              </a:defRPr>
            </a:pPr>
            <a:r>
              <a:t>⏱ 0:40 - 1:20 | Real Adversarial Cyber Attack Simulation</a:t>
            </a:r>
          </a:p>
          <a:p>
            <a:pPr>
              <a:defRPr sz="1100">
                <a:solidFill>
                  <a:srgbClr val="F1F5F9"/>
                </a:solidFill>
              </a:defRPr>
            </a:pPr>
            <a:r>
              <a:t>Click 'SIMULATE ATTACK'. Injects tampered HMAC packet into /api/attack/execute. Mainframe hardware gate intercepts and drops packet (401 Unauthorized in 0.04 ms). Flashes [HMAC AUTHENTICATION FAILED - INJECTION REJECTED].</a:t>
            </a:r>
          </a:p>
          <a:p>
            <a:pPr>
              <a:spcBef>
                <a:spcPts val="600"/>
              </a:spcBef>
              <a:defRPr sz="1300" b="1">
                <a:solidFill>
                  <a:srgbClr val="F59E0B"/>
                </a:solidFill>
              </a:defRPr>
            </a:pPr>
            <a:r>
              <a:t>⏱ 1:20 - 2:00 | Urban Deluge &amp; Deterministic Corridors</a:t>
            </a:r>
          </a:p>
          <a:p>
            <a:pPr>
              <a:defRPr sz="1100">
                <a:solidFill>
                  <a:srgbClr val="F1F5F9"/>
                </a:solidFill>
              </a:defRPr>
            </a:pPr>
            <a:r>
              <a:t>Flood index rises in Hindmata basin. Snap ML triggers ward anomaly alert. Deterministic Dijkstra engine pre-empts traffic and recalculates elevated corridor for Ambulance 04.</a:t>
            </a:r>
          </a:p>
          <a:p>
            <a:pPr>
              <a:spcBef>
                <a:spcPts val="600"/>
              </a:spcBef>
              <a:defRPr sz="1300" b="1">
                <a:solidFill>
                  <a:srgbClr val="F59E0B"/>
                </a:solidFill>
              </a:defRPr>
            </a:pPr>
            <a:r>
              <a:t>⏱ 2:00 - 2:40 | Sovereignty Failover &amp; Dual-Mainframe Mesh</a:t>
            </a:r>
          </a:p>
          <a:p>
            <a:pPr>
              <a:defRPr sz="1100">
                <a:solidFill>
                  <a:srgbClr val="F1F5F9"/>
                </a:solidFill>
              </a:defRPr>
            </a:pPr>
            <a:r>
              <a:t>Simulate internet blackout. Cloud drops. Local Big-Endian AI on s390x takes over; dispatches Marathi EMS telegram brief. KEM Hospital Mainframe #1 automatically federates overflow triage to Sion Hospital Mainframe #2!</a:t>
            </a:r>
          </a:p>
          <a:p>
            <a:pPr>
              <a:spcBef>
                <a:spcPts val="600"/>
              </a:spcBef>
              <a:defRPr sz="1300" b="1">
                <a:solidFill>
                  <a:srgbClr val="F59E0B"/>
                </a:solidFill>
              </a:defRPr>
            </a:pPr>
            <a:r>
              <a:t>⏱ 2:40 - 3:00 | The Impact Verdict</a:t>
            </a:r>
          </a:p>
          <a:p>
            <a:pPr>
              <a:defRPr sz="1100">
                <a:solidFill>
                  <a:srgbClr val="F1F5F9"/>
                </a:solidFill>
              </a:defRPr>
            </a:pPr>
            <a:r>
              <a:t>Zero data loss, zero spoofed packets admitted, 100% operational survival on IBM LinuxONE.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822960"/>
          </a:xfrm>
          <a:prstGeom prst="rect">
            <a:avLst/>
          </a:prstGeom>
          <a:noFill/>
        </p:spPr>
        <p:txBody>
          <a:bodyPr wrap="square">
            <a:spAutoFit/>
          </a:bodyPr>
          <a:lstStyle/>
          <a:p>
            <a:pPr>
              <a:defRPr sz="2600" b="1">
                <a:solidFill>
                  <a:srgbClr val="F1F5F9"/>
                </a:solidFill>
                <a:latin typeface="Arial"/>
              </a:defRPr>
            </a:pPr>
            <a:r>
              <a:t>Community Value, Quantified Impact &amp; Team Roles</a:t>
            </a:r>
          </a:p>
        </p:txBody>
      </p:sp>
      <p:sp>
        <p:nvSpPr>
          <p:cNvPr id="4" name="TextBox 3"/>
          <p:cNvSpPr txBox="1"/>
          <p:nvPr/>
        </p:nvSpPr>
        <p:spPr>
          <a:xfrm>
            <a:off x="731520" y="182880"/>
            <a:ext cx="7315200" cy="320040"/>
          </a:xfrm>
          <a:prstGeom prst="rect">
            <a:avLst/>
          </a:prstGeom>
          <a:noFill/>
        </p:spPr>
        <p:txBody>
          <a:bodyPr wrap="none">
            <a:spAutoFit/>
          </a:bodyPr>
          <a:lstStyle/>
          <a:p>
            <a:pPr>
              <a:defRPr sz="1100" b="1">
                <a:solidFill>
                  <a:srgbClr val="06B6D4"/>
                </a:solidFill>
                <a:latin typeface="Arial"/>
              </a:defRPr>
            </a:pPr>
            <a:r>
              <a:t>PROJECT SYN // COMMUNITY VALUE &amp; TEAM DELIVERY · IBM LINUXONE (s390x)</a:t>
            </a:r>
          </a:p>
        </p:txBody>
      </p:sp>
      <p:sp>
        <p:nvSpPr>
          <p:cNvPr id="5" name="TextBox 4"/>
          <p:cNvSpPr txBox="1"/>
          <p:nvPr/>
        </p:nvSpPr>
        <p:spPr>
          <a:xfrm>
            <a:off x="731520" y="1463040"/>
            <a:ext cx="5212080" cy="4754880"/>
          </a:xfrm>
          <a:prstGeom prst="rect">
            <a:avLst/>
          </a:prstGeom>
          <a:noFill/>
        </p:spPr>
        <p:txBody>
          <a:bodyPr wrap="square">
            <a:spAutoFit/>
          </a:bodyPr>
          <a:lstStyle/>
          <a:p>
            <a:pPr>
              <a:defRPr sz="1400" b="1">
                <a:solidFill>
                  <a:srgbClr val="10B981"/>
                </a:solidFill>
              </a:defRPr>
            </a:pPr>
            <a:r>
              <a:t>QUANTIFIED BENEFICIARY IMPACT</a:t>
            </a:r>
          </a:p>
          <a:p>
            <a:pPr>
              <a:spcBef>
                <a:spcPts val="600"/>
              </a:spcBef>
              <a:defRPr sz="1250" b="1">
                <a:solidFill>
                  <a:srgbClr val="F1F5F9"/>
                </a:solidFill>
              </a:defRPr>
            </a:pPr>
            <a:r>
              <a:t>• 21.3 Million Citizens</a:t>
            </a:r>
          </a:p>
          <a:p>
            <a:pPr>
              <a:defRPr sz="1100">
                <a:solidFill>
                  <a:srgbClr val="8493A8"/>
                </a:solidFill>
              </a:defRPr>
            </a:pPr>
            <a:r>
              <a:t>Total population covered in Mumbai Metropolitan Region.</a:t>
            </a:r>
          </a:p>
          <a:p>
            <a:pPr>
              <a:spcBef>
                <a:spcPts val="600"/>
              </a:spcBef>
              <a:defRPr sz="1250" b="1">
                <a:solidFill>
                  <a:srgbClr val="F1F5F9"/>
                </a:solidFill>
              </a:defRPr>
            </a:pPr>
            <a:r>
              <a:t>• 65% Reduction in Transit Latency</a:t>
            </a:r>
          </a:p>
          <a:p>
            <a:pPr>
              <a:defRPr sz="1100">
                <a:solidFill>
                  <a:srgbClr val="8493A8"/>
                </a:solidFill>
              </a:defRPr>
            </a:pPr>
            <a:r>
              <a:t>Ambulance corridors bypass drowned underpasses dynamically.</a:t>
            </a:r>
          </a:p>
          <a:p>
            <a:pPr>
              <a:spcBef>
                <a:spcPts val="600"/>
              </a:spcBef>
              <a:defRPr sz="1250" b="1">
                <a:solidFill>
                  <a:srgbClr val="F1F5F9"/>
                </a:solidFill>
              </a:defRPr>
            </a:pPr>
            <a:r>
              <a:t>• Zero Spoofed Packets Admitted</a:t>
            </a:r>
          </a:p>
          <a:p>
            <a:pPr>
              <a:defRPr sz="1100">
                <a:solidFill>
                  <a:srgbClr val="8493A8"/>
                </a:solidFill>
              </a:defRPr>
            </a:pPr>
            <a:r>
              <a:t>CPACF gatekeeper ensures 100% trustworthy hospital triage decisions.</a:t>
            </a:r>
          </a:p>
          <a:p>
            <a:pPr>
              <a:spcBef>
                <a:spcPts val="600"/>
              </a:spcBef>
              <a:defRPr sz="1250" b="1">
                <a:solidFill>
                  <a:srgbClr val="F1F5F9"/>
                </a:solidFill>
              </a:defRPr>
            </a:pPr>
            <a:r>
              <a:t>• Zero Single Point of Failure</a:t>
            </a:r>
          </a:p>
          <a:p>
            <a:pPr>
              <a:defRPr sz="1100">
                <a:solidFill>
                  <a:srgbClr val="8493A8"/>
                </a:solidFill>
              </a:defRPr>
            </a:pPr>
            <a:r>
              <a:t>Dual LinuxONE Community Cloud cluster guarantees continuous uptime.</a:t>
            </a:r>
          </a:p>
        </p:txBody>
      </p:sp>
      <p:sp>
        <p:nvSpPr>
          <p:cNvPr id="6" name="TextBox 5"/>
          <p:cNvSpPr txBox="1"/>
          <p:nvPr/>
        </p:nvSpPr>
        <p:spPr>
          <a:xfrm>
            <a:off x="6217920" y="1463040"/>
            <a:ext cx="5212080" cy="4754880"/>
          </a:xfrm>
          <a:prstGeom prst="rect">
            <a:avLst/>
          </a:prstGeom>
          <a:noFill/>
        </p:spPr>
        <p:txBody>
          <a:bodyPr wrap="square">
            <a:spAutoFit/>
          </a:bodyPr>
          <a:lstStyle/>
          <a:p>
            <a:pPr>
              <a:defRPr sz="1400" b="1">
                <a:solidFill>
                  <a:srgbClr val="06B6D4"/>
                </a:solidFill>
              </a:defRPr>
            </a:pPr>
            <a:r>
              <a:t>TEAM ROLES &amp; CONTRIBUTIONS</a:t>
            </a:r>
          </a:p>
          <a:p>
            <a:pPr>
              <a:spcBef>
                <a:spcPts val="800"/>
              </a:spcBef>
              <a:defRPr sz="1250" b="1">
                <a:solidFill>
                  <a:srgbClr val="F1F5F9"/>
                </a:solidFill>
              </a:defRPr>
            </a:pPr>
            <a:r>
              <a:t>👤 Anshika Tripathi — Pair 2: Data Logic &amp; ML Engine</a:t>
            </a:r>
          </a:p>
          <a:p>
            <a:pPr>
              <a:defRPr sz="1050">
                <a:solidFill>
                  <a:srgbClr val="8493A8"/>
                </a:solidFill>
              </a:defRPr>
            </a:pPr>
            <a:r>
              <a:t>  - 50,000-event Mumbai disaster dataset calibration</a:t>
            </a:r>
          </a:p>
          <a:p>
            <a:pPr>
              <a:defRPr sz="1050">
                <a:solidFill>
                  <a:srgbClr val="8493A8"/>
                </a:solidFill>
              </a:defRPr>
            </a:pPr>
            <a:r>
              <a:t>  - Snap ML Random Forest &amp; Isolation Forest training</a:t>
            </a:r>
          </a:p>
          <a:p>
            <a:pPr>
              <a:defRPr sz="1050">
                <a:solidFill>
                  <a:srgbClr val="8493A8"/>
                </a:solidFill>
              </a:defRPr>
            </a:pPr>
            <a:r>
              <a:t>  - Dijkstra deterministic corridor graph engine</a:t>
            </a:r>
          </a:p>
          <a:p>
            <a:pPr>
              <a:spcBef>
                <a:spcPts val="800"/>
              </a:spcBef>
              <a:defRPr sz="1250" b="1">
                <a:solidFill>
                  <a:srgbClr val="F1F5F9"/>
                </a:solidFill>
              </a:defRPr>
            </a:pPr>
            <a:r>
              <a:t>👤 Yuvraj Lokhande — Pair 1 &amp; 3: Mainframe Core &amp; Architecture</a:t>
            </a:r>
          </a:p>
          <a:p>
            <a:pPr>
              <a:defRPr sz="1050">
                <a:solidFill>
                  <a:srgbClr val="8493A8"/>
                </a:solidFill>
              </a:defRPr>
            </a:pPr>
            <a:r>
              <a:t>  - IBM LinuxONE CPACF hardware cryptographic gate</a:t>
            </a:r>
          </a:p>
          <a:p>
            <a:pPr>
              <a:defRPr sz="1050">
                <a:solidFill>
                  <a:srgbClr val="8493A8"/>
                </a:solidFill>
              </a:defRPr>
            </a:pPr>
            <a:r>
              <a:t>  - FastAPI shock-absorber &amp; sequential hash ledger</a:t>
            </a:r>
          </a:p>
          <a:p>
            <a:pPr>
              <a:defRPr sz="1050">
                <a:solidFill>
                  <a:srgbClr val="8493A8"/>
                </a:solidFill>
              </a:defRPr>
            </a:pPr>
            <a:r>
              <a:t>  - Command Center GIS UI &amp; dual-mainframe cluster deployment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822960"/>
          </a:xfrm>
          <a:prstGeom prst="rect">
            <a:avLst/>
          </a:prstGeom>
          <a:noFill/>
        </p:spPr>
        <p:txBody>
          <a:bodyPr wrap="square">
            <a:spAutoFit/>
          </a:bodyPr>
          <a:lstStyle/>
          <a:p>
            <a:pPr>
              <a:defRPr sz="2600" b="1">
                <a:solidFill>
                  <a:srgbClr val="F1F5F9"/>
                </a:solidFill>
                <a:latin typeface="Arial"/>
              </a:defRPr>
            </a:pPr>
            <a:r>
              <a:t>Live Mainframe Endpoints &amp; Verification Links</a:t>
            </a:r>
          </a:p>
        </p:txBody>
      </p:sp>
      <p:sp>
        <p:nvSpPr>
          <p:cNvPr id="4" name="TextBox 3"/>
          <p:cNvSpPr txBox="1"/>
          <p:nvPr/>
        </p:nvSpPr>
        <p:spPr>
          <a:xfrm>
            <a:off x="731520" y="182880"/>
            <a:ext cx="7315200" cy="320040"/>
          </a:xfrm>
          <a:prstGeom prst="rect">
            <a:avLst/>
          </a:prstGeom>
          <a:noFill/>
        </p:spPr>
        <p:txBody>
          <a:bodyPr wrap="none">
            <a:spAutoFit/>
          </a:bodyPr>
          <a:lstStyle/>
          <a:p>
            <a:pPr>
              <a:defRPr sz="1100" b="1">
                <a:solidFill>
                  <a:srgbClr val="06B6D4"/>
                </a:solidFill>
                <a:latin typeface="Arial"/>
              </a:defRPr>
            </a:pPr>
            <a:r>
              <a:t>PROJECT SYN // SUBMISSION &amp; VERIFICATION · IBM LINUXONE (s390x)</a:t>
            </a:r>
          </a:p>
        </p:txBody>
      </p:sp>
      <p:sp>
        <p:nvSpPr>
          <p:cNvPr id="5" name="TextBox 4"/>
          <p:cNvSpPr txBox="1"/>
          <p:nvPr/>
        </p:nvSpPr>
        <p:spPr>
          <a:xfrm>
            <a:off x="731520" y="1463040"/>
            <a:ext cx="10698480" cy="4754880"/>
          </a:xfrm>
          <a:prstGeom prst="rect">
            <a:avLst/>
          </a:prstGeom>
          <a:noFill/>
        </p:spPr>
        <p:txBody>
          <a:bodyPr wrap="square">
            <a:spAutoFit/>
          </a:bodyPr>
          <a:lstStyle/>
          <a:p/>
          <a:p>
            <a:pPr>
              <a:spcBef>
                <a:spcPts val="800"/>
              </a:spcBef>
              <a:defRPr sz="1300" b="1">
                <a:solidFill>
                  <a:srgbClr val="F59E0B"/>
                </a:solidFill>
              </a:defRPr>
            </a:pPr>
            <a:r>
              <a:t>▶ NODE 1 (KEM HOSPITAL PAREL) — PRIMARY CLOUD MAINFRAME</a:t>
            </a:r>
          </a:p>
          <a:p>
            <a:pPr>
              <a:defRPr sz="1100">
                <a:solidFill>
                  <a:srgbClr val="F1F5F9"/>
                </a:solidFill>
              </a:defRPr>
            </a:pPr>
            <a:r>
              <a:t>  Command Center UI: http://148.100.79.88:8000/ui/ (or direct http://148.100.79.88/ui/)</a:t>
            </a:r>
          </a:p>
          <a:p>
            <a:pPr>
              <a:defRPr sz="1100">
                <a:solidFill>
                  <a:srgbClr val="F1F5F9"/>
                </a:solidFill>
              </a:defRPr>
            </a:pPr>
            <a:r>
              <a:t>  Containerized JupyterLab: http://148.100.79.88:38888/?token=Your_Token1</a:t>
            </a:r>
          </a:p>
          <a:p>
            <a:pPr>
              <a:defRPr sz="1100">
                <a:solidFill>
                  <a:srgbClr val="F1F5F9"/>
                </a:solidFill>
              </a:defRPr>
            </a:pPr>
            <a:r>
              <a:t>  OpenAPI / Swagger Docs: http://148.100.79.88:8000/docs</a:t>
            </a:r>
          </a:p>
          <a:p>
            <a:pPr>
              <a:defRPr sz="1100">
                <a:solidFill>
                  <a:srgbClr val="F1F5F9"/>
                </a:solidFill>
              </a:defRPr>
            </a:pPr>
            <a:r>
              <a:t>  Public HTTPS Mirror: https://rucvf-148-100-79-88.run.pinggy-free.link/ui/</a:t>
            </a:r>
          </a:p>
          <a:p>
            <a:pPr>
              <a:spcBef>
                <a:spcPts val="800"/>
              </a:spcBef>
              <a:defRPr sz="1300" b="1">
                <a:solidFill>
                  <a:srgbClr val="F59E0B"/>
                </a:solidFill>
              </a:defRPr>
            </a:pPr>
            <a:r>
              <a:t>▶ NODE 2 (SION HOSPITAL LTMGH) — DISTRIBUTED FAILOVER MAINFRAME</a:t>
            </a:r>
          </a:p>
          <a:p>
            <a:pPr>
              <a:defRPr sz="1100">
                <a:solidFill>
                  <a:srgbClr val="F1F5F9"/>
                </a:solidFill>
              </a:defRPr>
            </a:pPr>
            <a:r>
              <a:t>  Command Center UI: http://148.100.98.9:8000/ui/ (or direct http://148.100.98.9/ui/)</a:t>
            </a:r>
          </a:p>
          <a:p>
            <a:pPr>
              <a:defRPr sz="1100">
                <a:solidFill>
                  <a:srgbClr val="F1F5F9"/>
                </a:solidFill>
              </a:defRPr>
            </a:pPr>
            <a:r>
              <a:t>  Containerized JupyterLab: http://148.100.98.9:38888/?token=Your_Token1</a:t>
            </a:r>
          </a:p>
          <a:p>
            <a:pPr>
              <a:defRPr sz="1100">
                <a:solidFill>
                  <a:srgbClr val="F1F5F9"/>
                </a:solidFill>
              </a:defRPr>
            </a:pPr>
            <a:r>
              <a:t>  OpenAPI / Swagger Docs: http://148.100.98.9:8000/docs</a:t>
            </a:r>
          </a:p>
          <a:p>
            <a:pPr>
              <a:defRPr sz="1100">
                <a:solidFill>
                  <a:srgbClr val="F1F5F9"/>
                </a:solidFill>
              </a:defRPr>
            </a:pPr>
            <a:r>
              <a:t>  Public HTTPS Mirror: https://sthem-148-100-98-9.run.pinggy-free.link/ui/</a:t>
            </a:r>
          </a:p>
          <a:p>
            <a:pPr>
              <a:spcBef>
                <a:spcPts val="800"/>
              </a:spcBef>
              <a:defRPr sz="1300" b="1">
                <a:solidFill>
                  <a:srgbClr val="F59E0B"/>
                </a:solidFill>
              </a:defRPr>
            </a:pPr>
            <a:r>
              <a:t>▶ GITHUB REPOSITORY</a:t>
            </a:r>
          </a:p>
          <a:p>
            <a:pPr>
              <a:defRPr sz="1100">
                <a:solidFill>
                  <a:srgbClr val="F1F5F9"/>
                </a:solidFill>
              </a:defRPr>
            </a:pPr>
            <a:r>
              <a:t>  Source Code &amp; Blueprints: https://github.com/yuvrajlokhande19/Project-Syn-IBMZ</a:t>
            </a:r>
          </a:p>
          <a:p>
            <a:pPr>
              <a:defRPr sz="1100">
                <a:solidFill>
                  <a:srgbClr val="F1F5F9"/>
                </a:solidFill>
              </a:defRPr>
            </a:pPr>
            <a:r>
              <a:t>  Submission Deadline: October 18, 2026 at 10:00 AM IST via Hack2Skill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